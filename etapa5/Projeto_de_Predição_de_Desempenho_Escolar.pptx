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747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726834"/>
            <a:ext cx="771525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294" b="1" dirty="0">
                <a:solidFill>
                  <a:schemeClr val="bg1"/>
                </a:solidFill>
              </a:rPr>
              <a:t>PROJETO</a:t>
            </a:r>
            <a:r>
              <a:rPr lang="en-US" sz="3294" b="1" dirty="0">
                <a:solidFill>
                  <a:srgbClr val="002060"/>
                </a:solidFill>
              </a:rPr>
              <a:t> DE PREDIÇÃO DE </a:t>
            </a:r>
            <a:r>
              <a:rPr lang="en-US" sz="3294" b="1" dirty="0">
                <a:solidFill>
                  <a:schemeClr val="bg1"/>
                </a:solidFill>
              </a:rPr>
              <a:t>DESEMPENHO</a:t>
            </a:r>
            <a:r>
              <a:rPr lang="en-US" sz="3294" b="1" dirty="0">
                <a:solidFill>
                  <a:srgbClr val="002060"/>
                </a:solidFill>
              </a:rPr>
              <a:t> ESCOLAR</a:t>
            </a:r>
            <a:endParaRPr lang="en-US" sz="3294" dirty="0">
              <a:solidFill>
                <a:srgbClr val="00206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714375" y="3104127"/>
            <a:ext cx="77152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B0B0D0"/>
                </a:solidFill>
              </a:rPr>
              <a:t>APRESENTAÇÃO FINAL</a:t>
            </a:r>
            <a:endParaRPr lang="en-US" sz="170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9144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RESUMO EXECUTIVO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966192"/>
            <a:ext cx="9144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00CCFF"/>
                </a:solidFill>
              </a:rPr>
              <a:t>Otimizando a Previsão de Desempenho Escolar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571500" y="1421606"/>
            <a:ext cx="2533659" cy="3721894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1500" y="1421606"/>
            <a:ext cx="2533659" cy="21431"/>
          </a:xfrm>
          <a:prstGeom prst="rect">
            <a:avLst/>
          </a:prstGeom>
          <a:solidFill>
            <a:srgbClr val="00C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00088" y="1607344"/>
            <a:ext cx="22764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DESAFIO E SOLUÇÃO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700088" y="1898452"/>
            <a:ext cx="2276484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B0B0D0"/>
                </a:solidFill>
              </a:rPr>
              <a:t>O objetivo central do projeto foi </a:t>
            </a:r>
            <a:r>
              <a:rPr lang="en-US" sz="885" b="1" dirty="0">
                <a:solidFill>
                  <a:srgbClr val="B0B0D0"/>
                </a:solidFill>
              </a:rPr>
              <a:t>prever com alta precisão a nota final dos estudantes</a:t>
            </a:r>
            <a:r>
              <a:rPr lang="en-US" sz="942" dirty="0">
                <a:solidFill>
                  <a:srgbClr val="B0B0D0"/>
                </a:solidFill>
              </a:rPr>
              <a:t>, fornecendo uma ferramenta preditiva crucial para a intervenção educacional.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3305184" y="1421606"/>
            <a:ext cx="2533659" cy="3721894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305184" y="1421606"/>
            <a:ext cx="2533659" cy="21431"/>
          </a:xfrm>
          <a:prstGeom prst="rect">
            <a:avLst/>
          </a:prstGeom>
          <a:solidFill>
            <a:srgbClr val="00C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433772" y="1607344"/>
            <a:ext cx="22764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BASE DE DADOS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3433772" y="1898452"/>
            <a:ext cx="2276484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B0B0D0"/>
                </a:solidFill>
              </a:rPr>
              <a:t>A análise foi fundamentada em um </a:t>
            </a:r>
            <a:r>
              <a:rPr lang="en-US" sz="885" b="1" dirty="0">
                <a:solidFill>
                  <a:srgbClr val="B0B0D0"/>
                </a:solidFill>
              </a:rPr>
              <a:t>dataset robusto</a:t>
            </a:r>
            <a:r>
              <a:rPr lang="en-US" sz="942" dirty="0">
                <a:solidFill>
                  <a:srgbClr val="B0B0D0"/>
                </a:solidFill>
              </a:rPr>
              <a:t> de 2.510 registros, abrangendo 14 variáveis independentes que foram cuidadosamente selecionadas e processadas.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6038869" y="1421606"/>
            <a:ext cx="2533659" cy="3721894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038869" y="1421606"/>
            <a:ext cx="2533659" cy="21431"/>
          </a:xfrm>
          <a:prstGeom prst="rect">
            <a:avLst/>
          </a:prstGeom>
          <a:solidFill>
            <a:srgbClr val="00C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167456" y="1607344"/>
            <a:ext cx="22764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MODELO E PERFORMANCE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6167456" y="1898452"/>
            <a:ext cx="2276484" cy="1350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B0B0D0"/>
                </a:solidFill>
              </a:rPr>
              <a:t>O modelo final, uma </a:t>
            </a:r>
            <a:r>
              <a:rPr lang="en-US" sz="885" b="1" dirty="0">
                <a:solidFill>
                  <a:srgbClr val="B0B0D0"/>
                </a:solidFill>
              </a:rPr>
              <a:t>Regressão Otimizada</a:t>
            </a:r>
            <a:r>
              <a:rPr lang="en-US" sz="942" dirty="0">
                <a:solidFill>
                  <a:srgbClr val="B0B0D0"/>
                </a:solidFill>
              </a:rPr>
              <a:t>, demonstrou uma performance excepcional. O coeficiente de determinação (</a:t>
            </a:r>
            <a:r>
              <a:rPr lang="en-US" sz="885" b="1" dirty="0">
                <a:solidFill>
                  <a:srgbClr val="B0B0D0"/>
                </a:solidFill>
              </a:rPr>
              <a:t>R²</a:t>
            </a:r>
            <a:r>
              <a:rPr lang="en-US" sz="942" dirty="0">
                <a:solidFill>
                  <a:srgbClr val="B0B0D0"/>
                </a:solidFill>
              </a:rPr>
              <a:t>) atingiu </a:t>
            </a:r>
            <a:r>
              <a:rPr lang="en-US" sz="885" b="1" dirty="0">
                <a:solidFill>
                  <a:srgbClr val="B0B0D0"/>
                </a:solidFill>
              </a:rPr>
              <a:t>0.9645</a:t>
            </a:r>
            <a:r>
              <a:rPr lang="en-US" sz="942" dirty="0">
                <a:solidFill>
                  <a:srgbClr val="B0B0D0"/>
                </a:solidFill>
              </a:rPr>
              <a:t> no conjunto de testes, validando a capacidade preditiva e a robustez da solução.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85775"/>
            <a:ext cx="9144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INTRODUÇÃO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628650" y="1023342"/>
            <a:ext cx="9144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00CCFF"/>
                </a:solidFill>
              </a:rPr>
              <a:t>Objetivo e Importância Estratégica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628650" y="1450181"/>
            <a:ext cx="3829050" cy="1376958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628650" y="1450181"/>
            <a:ext cx="28575" cy="1376958"/>
          </a:xfrm>
          <a:prstGeom prst="rect">
            <a:avLst/>
          </a:prstGeom>
          <a:solidFill>
            <a:srgbClr val="00C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28675" y="1564481"/>
            <a:ext cx="199877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OBJETIVO ESTRATÉGICO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742950" y="1855589"/>
            <a:ext cx="358616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B0B0D0"/>
                </a:solidFill>
              </a:rPr>
              <a:t>O propósito fundamental é </a:t>
            </a:r>
            <a:r>
              <a:rPr lang="en-US" sz="987" b="1" dirty="0">
                <a:solidFill>
                  <a:srgbClr val="B0B0D0"/>
                </a:solidFill>
              </a:rPr>
              <a:t>criar um modelo preditivo robusto</a:t>
            </a:r>
            <a:r>
              <a:rPr lang="en-US" sz="1050" dirty="0">
                <a:solidFill>
                  <a:srgbClr val="B0B0D0"/>
                </a:solidFill>
              </a:rPr>
              <a:t> que sirva como um sistema de alerta precoce, identificando alunos em risco de baixo desempenho.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86313" y="1450181"/>
            <a:ext cx="3843338" cy="159127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786313" y="1450181"/>
            <a:ext cx="28575" cy="1591270"/>
          </a:xfrm>
          <a:prstGeom prst="rect">
            <a:avLst/>
          </a:prstGeom>
          <a:solidFill>
            <a:srgbClr val="00C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000625" y="1564481"/>
            <a:ext cx="23466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RELEVÂNCIA EDUCACIONAL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914900" y="1855589"/>
            <a:ext cx="360045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B0B0D0"/>
                </a:solidFill>
              </a:rPr>
              <a:t>A importância reside no </a:t>
            </a:r>
            <a:r>
              <a:rPr lang="en-US" sz="987" b="1" dirty="0">
                <a:solidFill>
                  <a:srgbClr val="B0B0D0"/>
                </a:solidFill>
              </a:rPr>
              <a:t>apoio estratégico à tomada de decisão educacional</a:t>
            </a:r>
            <a:r>
              <a:rPr lang="en-US" sz="1050" dirty="0">
                <a:solidFill>
                  <a:srgbClr val="B0B0D0"/>
                </a:solidFill>
              </a:rPr>
              <a:t>, permitindo que educadores e gestores implementem intervenções personalizadas e oportunas, maximizando o sucesso do aluno.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9144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EXPLORAÇÃO DOS DADOS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966192"/>
            <a:ext cx="9144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00CCFF"/>
                </a:solidFill>
              </a:rPr>
              <a:t>Análise Descritiva e Identificação de Relações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571500" y="1450181"/>
            <a:ext cx="2476509" cy="1569839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1500" y="1450181"/>
            <a:ext cx="2476509" cy="28575"/>
          </a:xfrm>
          <a:prstGeom prst="rect">
            <a:avLst/>
          </a:prstGeom>
          <a:solidFill>
            <a:srgbClr val="00C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85800" y="1621631"/>
            <a:ext cx="22479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VISÃO GERAL DO DATASET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685800" y="1912739"/>
            <a:ext cx="2247909" cy="560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B0B0D0"/>
                </a:solidFill>
              </a:rPr>
              <a:t>A análise inicial forneceu </a:t>
            </a:r>
            <a:r>
              <a:rPr lang="en-US" sz="942" dirty="0" err="1">
                <a:solidFill>
                  <a:srgbClr val="B0B0D0"/>
                </a:solidFill>
              </a:rPr>
              <a:t>uma</a:t>
            </a:r>
            <a:r>
              <a:rPr lang="en-US" sz="942" dirty="0">
                <a:solidFill>
                  <a:srgbClr val="B0B0D0"/>
                </a:solidFill>
              </a:rPr>
              <a:t> </a:t>
            </a:r>
            <a:r>
              <a:rPr lang="en-US" sz="942" dirty="0" err="1">
                <a:solidFill>
                  <a:srgbClr val="B0B0D0"/>
                </a:solidFill>
              </a:rPr>
              <a:t>visão</a:t>
            </a:r>
            <a:r>
              <a:rPr lang="en-US" sz="942" dirty="0">
                <a:solidFill>
                  <a:srgbClr val="B0B0D0"/>
                </a:solidFill>
              </a:rPr>
              <a:t> macro da estrutura do dataset, incluindo o tipo e a distribuição das 14 variáveis.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3333759" y="1450181"/>
            <a:ext cx="2476509" cy="1569839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333759" y="1450181"/>
            <a:ext cx="2476509" cy="28575"/>
          </a:xfrm>
          <a:prstGeom prst="rect">
            <a:avLst/>
          </a:prstGeom>
          <a:solidFill>
            <a:srgbClr val="00C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448059" y="1621631"/>
            <a:ext cx="22479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QUALIDADE E LIMPEZA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3448059" y="1912739"/>
            <a:ext cx="2247909" cy="75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B0B0D0"/>
                </a:solidFill>
              </a:rPr>
              <a:t>A etapa de </a:t>
            </a:r>
            <a:r>
              <a:rPr lang="en-US" sz="942" dirty="0" err="1">
                <a:solidFill>
                  <a:srgbClr val="B0B0D0"/>
                </a:solidFill>
              </a:rPr>
              <a:t>qualidade</a:t>
            </a:r>
            <a:r>
              <a:rPr lang="en-US" sz="942" dirty="0">
                <a:solidFill>
                  <a:srgbClr val="B0B0D0"/>
                </a:solidFill>
              </a:rPr>
              <a:t> dos dados focou na identificação e tratamento de dados faltantes, garantindo a integridade da base para o treinamento do modelo.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6096019" y="1450181"/>
            <a:ext cx="2476509" cy="1569839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096019" y="1450181"/>
            <a:ext cx="2476509" cy="28575"/>
          </a:xfrm>
          <a:prstGeom prst="rect">
            <a:avLst/>
          </a:prstGeom>
          <a:solidFill>
            <a:srgbClr val="00C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0319" y="1621631"/>
            <a:ext cx="22479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CORRELAÇÕES CHAVE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6210319" y="1912739"/>
            <a:ext cx="2247909" cy="75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B0B0D0"/>
                </a:solidFill>
              </a:rPr>
              <a:t>O mapeamento das </a:t>
            </a:r>
            <a:r>
              <a:rPr lang="en-US" sz="942" dirty="0" err="1">
                <a:solidFill>
                  <a:srgbClr val="B0B0D0"/>
                </a:solidFill>
              </a:rPr>
              <a:t>correlações</a:t>
            </a:r>
            <a:r>
              <a:rPr lang="en-US" sz="942" dirty="0">
                <a:solidFill>
                  <a:srgbClr val="B0B0D0"/>
                </a:solidFill>
              </a:rPr>
              <a:t> </a:t>
            </a:r>
            <a:r>
              <a:rPr lang="en-US" sz="942" dirty="0" err="1">
                <a:solidFill>
                  <a:srgbClr val="B0B0D0"/>
                </a:solidFill>
              </a:rPr>
              <a:t>mais</a:t>
            </a:r>
            <a:r>
              <a:rPr lang="en-US" sz="942" dirty="0">
                <a:solidFill>
                  <a:srgbClr val="B0B0D0"/>
                </a:solidFill>
              </a:rPr>
              <a:t> </a:t>
            </a:r>
            <a:r>
              <a:rPr lang="en-US" sz="942" dirty="0" err="1">
                <a:solidFill>
                  <a:srgbClr val="B0B0D0"/>
                </a:solidFill>
              </a:rPr>
              <a:t>relevantes</a:t>
            </a:r>
            <a:r>
              <a:rPr lang="en-US" sz="942" dirty="0">
                <a:solidFill>
                  <a:srgbClr val="B0B0D0"/>
                </a:solidFill>
              </a:rPr>
              <a:t> com a nota final foi crucial para direcionar as próximas etapas de feature engineering e seleção de variáveis.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9144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PRÉ-PROCESSAMENTO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966192"/>
            <a:ext cx="9144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00CCFF"/>
                </a:solidFill>
              </a:rPr>
              <a:t>Preparação Rigorosa para o Treinamento do Modelo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571500" y="1564481"/>
            <a:ext cx="2476509" cy="2132298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1500" y="1564481"/>
            <a:ext cx="2476509" cy="28575"/>
          </a:xfrm>
          <a:prstGeom prst="rect">
            <a:avLst/>
          </a:prstGeom>
          <a:solidFill>
            <a:srgbClr val="00C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85813" y="1885950"/>
            <a:ext cx="2047884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TRATAMENTO DE MISSING VALUES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785813" y="2425303"/>
            <a:ext cx="2047884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B0B0D0"/>
                </a:solidFill>
              </a:rPr>
              <a:t>Estratégias de </a:t>
            </a:r>
            <a:r>
              <a:rPr lang="en-US" sz="885" b="1" dirty="0">
                <a:solidFill>
                  <a:srgbClr val="B0B0D0"/>
                </a:solidFill>
              </a:rPr>
              <a:t>imputação avançada</a:t>
            </a:r>
            <a:r>
              <a:rPr lang="en-US" sz="942" dirty="0">
                <a:solidFill>
                  <a:srgbClr val="B0B0D0"/>
                </a:solidFill>
              </a:rPr>
              <a:t> foram aplicadas para preencher dados faltantes de forma a preservar a distribuição estatística das variáveis.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3333759" y="1564481"/>
            <a:ext cx="2476509" cy="233801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333759" y="1564481"/>
            <a:ext cx="2476509" cy="28575"/>
          </a:xfrm>
          <a:prstGeom prst="rect">
            <a:avLst/>
          </a:prstGeom>
          <a:solidFill>
            <a:srgbClr val="00C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548072" y="1885950"/>
            <a:ext cx="2047884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PADRONIZAÇÃO E NORMALIZAÇÃO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3548072" y="2425303"/>
            <a:ext cx="2047884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B0B0D0"/>
                </a:solidFill>
              </a:rPr>
              <a:t>As variáveis foram </a:t>
            </a:r>
            <a:r>
              <a:rPr lang="en-US" sz="885" b="1" dirty="0">
                <a:solidFill>
                  <a:srgbClr val="B0B0D0"/>
                </a:solidFill>
              </a:rPr>
              <a:t>padronizadas e normalizadas</a:t>
            </a:r>
            <a:r>
              <a:rPr lang="en-US" sz="942" dirty="0">
                <a:solidFill>
                  <a:srgbClr val="B0B0D0"/>
                </a:solidFill>
              </a:rPr>
              <a:t> para garantir que nenhuma variável dominasse o processo de treinamento do modelo, otimizando a convergência.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6096019" y="1564481"/>
            <a:ext cx="2476509" cy="189834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096019" y="1564481"/>
            <a:ext cx="2476509" cy="28575"/>
          </a:xfrm>
          <a:prstGeom prst="rect">
            <a:avLst/>
          </a:prstGeom>
          <a:solidFill>
            <a:srgbClr val="00C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310331" y="1885950"/>
            <a:ext cx="20478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FEATURE ENGINEERING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6310331" y="2191345"/>
            <a:ext cx="2047884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B0B0D0"/>
                </a:solidFill>
              </a:rPr>
              <a:t>A </a:t>
            </a:r>
            <a:r>
              <a:rPr lang="en-US" sz="885" b="1" dirty="0">
                <a:solidFill>
                  <a:srgbClr val="B0B0D0"/>
                </a:solidFill>
              </a:rPr>
              <a:t>criação de novas variáveis preditivas</a:t>
            </a:r>
            <a:r>
              <a:rPr lang="en-US" sz="942" dirty="0">
                <a:solidFill>
                  <a:srgbClr val="B0B0D0"/>
                </a:solidFill>
              </a:rPr>
              <a:t> a partir das existentes aumentou significativamente o poder de explicação e a performance final do modelo.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9144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AGRADECIMENTO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966192"/>
            <a:ext cx="65" cy="269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2928072" y="1941237"/>
            <a:ext cx="3287855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00CCFF"/>
                </a:solidFill>
              </a:rPr>
              <a:t>OBRIGADO!</a:t>
            </a:r>
            <a:endParaRPr lang="en-US" sz="4145" dirty="0"/>
          </a:p>
        </p:txBody>
      </p:sp>
      <p:sp>
        <p:nvSpPr>
          <p:cNvPr id="6" name="Text 3"/>
          <p:cNvSpPr/>
          <p:nvPr/>
        </p:nvSpPr>
        <p:spPr>
          <a:xfrm>
            <a:off x="4169643" y="2813085"/>
            <a:ext cx="804707" cy="269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FFFFFF"/>
                </a:solidFill>
              </a:rPr>
              <a:t>Dúvidas?</a:t>
            </a:r>
            <a:endParaRPr lang="en-US" sz="1704" dirty="0"/>
          </a:p>
        </p:txBody>
      </p:sp>
      <p:sp>
        <p:nvSpPr>
          <p:cNvPr id="8" name="Text 5"/>
          <p:cNvSpPr/>
          <p:nvPr/>
        </p:nvSpPr>
        <p:spPr>
          <a:xfrm>
            <a:off x="3235365" y="3855839"/>
            <a:ext cx="65" cy="233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endParaRPr lang="en-US" sz="1486" dirty="0"/>
          </a:p>
        </p:txBody>
      </p:sp>
      <p:sp>
        <p:nvSpPr>
          <p:cNvPr id="9" name="Text 6"/>
          <p:cNvSpPr/>
          <p:nvPr/>
        </p:nvSpPr>
        <p:spPr>
          <a:xfrm>
            <a:off x="4678961" y="3855839"/>
            <a:ext cx="65" cy="233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endParaRPr lang="en-US" sz="1486" dirty="0"/>
          </a:p>
        </p:txBody>
      </p:sp>
      <p:sp>
        <p:nvSpPr>
          <p:cNvPr id="10" name="Text 7"/>
          <p:cNvSpPr/>
          <p:nvPr/>
        </p:nvSpPr>
        <p:spPr>
          <a:xfrm>
            <a:off x="0" y="4738092"/>
            <a:ext cx="9144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B0B0D0"/>
                </a:solidFill>
              </a:rPr>
              <a:t>PROJETO DE PREDIÇÃO DE DESEMPENHO ESCOLAR</a:t>
            </a:r>
            <a:endParaRPr lang="en-US" sz="119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366</Words>
  <Application>Microsoft Office PowerPoint</Application>
  <PresentationFormat>Apresentação na tela (16:9)</PresentationFormat>
  <Paragraphs>42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Iasmin Medeiros</cp:lastModifiedBy>
  <cp:revision>2</cp:revision>
  <dcterms:created xsi:type="dcterms:W3CDTF">2025-12-03T00:52:08Z</dcterms:created>
  <dcterms:modified xsi:type="dcterms:W3CDTF">2025-12-03T01:04:53Z</dcterms:modified>
</cp:coreProperties>
</file>